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2" r:id="rId5"/>
    <p:sldId id="290" r:id="rId6"/>
    <p:sldId id="291" r:id="rId7"/>
    <p:sldId id="293" r:id="rId8"/>
    <p:sldId id="268" r:id="rId9"/>
    <p:sldId id="294" r:id="rId10"/>
    <p:sldId id="296" r:id="rId11"/>
    <p:sldId id="297" r:id="rId12"/>
    <p:sldId id="267" r:id="rId13"/>
    <p:sldId id="298" r:id="rId14"/>
    <p:sldId id="295" r:id="rId15"/>
    <p:sldId id="289" r:id="rId16"/>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ần Mặc định" id="{6BDD483E-D9A1-4B12-817C-2617B3135CFC}">
          <p14:sldIdLst>
            <p14:sldId id="256"/>
            <p14:sldId id="258"/>
          </p14:sldIdLst>
        </p14:section>
        <p14:section name="Mục Chưa có tên" id="{CCD19244-C8AD-41EB-8CA0-4C334A83A9F0}">
          <p14:sldIdLst>
            <p14:sldId id="259"/>
            <p14:sldId id="262"/>
            <p14:sldId id="290"/>
            <p14:sldId id="291"/>
            <p14:sldId id="293"/>
            <p14:sldId id="268"/>
            <p14:sldId id="294"/>
            <p14:sldId id="296"/>
            <p14:sldId id="297"/>
            <p14:sldId id="267"/>
            <p14:sldId id="298"/>
            <p14:sldId id="295"/>
            <p14:sldId id="28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C73"/>
    <a:srgbClr val="BB2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5" autoAdjust="0"/>
    <p:restoredTop sz="94660"/>
  </p:normalViewPr>
  <p:slideViewPr>
    <p:cSldViewPr snapToGrid="0">
      <p:cViewPr varScale="1">
        <p:scale>
          <a:sx n="75" d="100"/>
          <a:sy n="75" d="100"/>
        </p:scale>
        <p:origin x="48" y="21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77516" y="1825625"/>
            <a:ext cx="11184556" cy="4351338"/>
          </a:xfrm>
        </p:spPr>
        <p:txBody>
          <a:bodyPr/>
          <a:lstStyle>
            <a:lvl1pPr>
              <a:buClr>
                <a:srgbClr val="C00000"/>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p:cNvSpPr>
            <a:spLocks noGrp="1"/>
          </p:cNvSpPr>
          <p:nvPr>
            <p:ph type="dt" sz="half" idx="10"/>
          </p:nvPr>
        </p:nvSpPr>
        <p:spPr/>
        <p:txBody>
          <a:bodyPr/>
          <a:lstStyle/>
          <a:p>
            <a:fld id="{BC198856-8958-4A38-9A59-CDC3B865CF0F}" type="datetimeFigureOut">
              <a:rPr lang="vi-VN" smtClean="0"/>
              <a:t>30/11/2025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531336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198856-8958-4A38-9A59-CDC3B865CF0F}" type="datetimeFigureOut">
              <a:rPr lang="vi-VN" smtClean="0"/>
              <a:t>30/11/2025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1041851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BC198856-8958-4A38-9A59-CDC3B865CF0F}" type="datetimeFigureOut">
              <a:rPr lang="vi-VN" smtClean="0"/>
              <a:t>30/11/2025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3147727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BC198856-8958-4A38-9A59-CDC3B865CF0F}" type="datetimeFigureOut">
              <a:rPr lang="vi-VN" smtClean="0"/>
              <a:t>30/11/2025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2972992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BC198856-8958-4A38-9A59-CDC3B865CF0F}" type="datetimeFigureOut">
              <a:rPr lang="vi-VN" smtClean="0"/>
              <a:t>30/11/2025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60378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198856-8958-4A38-9A59-CDC3B865CF0F}" type="datetimeFigureOut">
              <a:rPr lang="vi-VN" smtClean="0"/>
              <a:t>30/11/2025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421700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198856-8958-4A38-9A59-CDC3B865CF0F}" type="datetimeFigureOut">
              <a:rPr lang="vi-VN" smtClean="0"/>
              <a:t>30/11/2025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1441846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C198856-8958-4A38-9A59-CDC3B865CF0F}" type="datetimeFigureOut">
              <a:rPr lang="vi-VN" smtClean="0"/>
              <a:t>30/11/2025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97191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BC198856-8958-4A38-9A59-CDC3B865CF0F}" type="datetimeFigureOut">
              <a:rPr lang="vi-VN" smtClean="0"/>
              <a:t>30/11/2025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305304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BC198856-8958-4A38-9A59-CDC3B865CF0F}" type="datetimeFigureOut">
              <a:rPr lang="vi-VN" smtClean="0"/>
              <a:t>30/11/2025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1F91826-77B8-45D9-A04C-FC19AB7F8E47}" type="slidenum">
              <a:rPr lang="vi-VN" smtClean="0"/>
              <a:t>‹#›</a:t>
            </a:fld>
            <a:endParaRPr lang="vi-VN"/>
          </a:p>
        </p:txBody>
      </p:sp>
    </p:spTree>
    <p:extLst>
      <p:ext uri="{BB962C8B-B14F-4D97-AF65-F5344CB8AC3E}">
        <p14:creationId xmlns:p14="http://schemas.microsoft.com/office/powerpoint/2010/main" val="1084670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10139" y="1825625"/>
            <a:ext cx="1125193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198856-8958-4A38-9A59-CDC3B865CF0F}" type="datetimeFigureOut">
              <a:rPr lang="vi-VN" smtClean="0"/>
              <a:t>30/11/2025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91826-77B8-45D9-A04C-FC19AB7F8E47}" type="slidenum">
              <a:rPr lang="vi-VN" smtClean="0"/>
              <a:t>‹#›</a:t>
            </a:fld>
            <a:endParaRPr lang="vi-VN"/>
          </a:p>
        </p:txBody>
      </p:sp>
    </p:spTree>
    <p:extLst>
      <p:ext uri="{BB962C8B-B14F-4D97-AF65-F5344CB8AC3E}">
        <p14:creationId xmlns:p14="http://schemas.microsoft.com/office/powerpoint/2010/main" val="2533554542"/>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3722" y="941694"/>
            <a:ext cx="11184556" cy="5650173"/>
          </a:xfrm>
        </p:spPr>
        <p:txBody>
          <a:bodyPr>
            <a:normAutofit/>
          </a:bodyPr>
          <a:lstStyle/>
          <a:p>
            <a:pPr marL="0" indent="0" algn="ctr">
              <a:buNone/>
            </a:pPr>
            <a:r>
              <a:rPr lang="en-US" sz="4000" b="1">
                <a:solidFill>
                  <a:srgbClr val="FF0000"/>
                </a:solidFill>
              </a:rPr>
              <a:t>BASIC PROJECT 4</a:t>
            </a:r>
            <a:endParaRPr lang="vi-VN" sz="6600" b="1">
              <a:solidFill>
                <a:srgbClr val="FF0000"/>
              </a:solidFill>
            </a:endParaRPr>
          </a:p>
          <a:p>
            <a:pPr marL="0" indent="0" algn="ctr">
              <a:buNone/>
            </a:pPr>
            <a:r>
              <a:rPr lang="en-US" sz="3200" b="1">
                <a:latin typeface="+mj-lt"/>
              </a:rPr>
              <a:t>BUILD BATTLESHIP ONLINE FIGHTING GAME APP</a:t>
            </a:r>
            <a:endParaRPr lang="en-US" sz="2400">
              <a:solidFill>
                <a:schemeClr val="accent1">
                  <a:lumMod val="75000"/>
                </a:schemeClr>
              </a:solidFill>
              <a:effectLst/>
              <a:latin typeface="Times New Roman" panose="02020603050405020304" pitchFamily="18" charset="0"/>
              <a:ea typeface="Calibri" panose="020F0502020204030204" pitchFamily="34" charset="0"/>
            </a:endParaRPr>
          </a:p>
          <a:p>
            <a:pPr marL="0" indent="0" algn="ctr">
              <a:buNone/>
            </a:pPr>
            <a:endParaRPr lang="en-US"/>
          </a:p>
          <a:p>
            <a:pPr marL="0" indent="0" algn="ctr">
              <a:buNone/>
            </a:pPr>
            <a:r>
              <a:rPr lang="en-US" b="1"/>
              <a:t>Instructors</a:t>
            </a:r>
            <a:r>
              <a:rPr lang="en-US"/>
              <a:t>: ThS. TRẦN ĐÌNH SƠN</a:t>
            </a:r>
          </a:p>
          <a:p>
            <a:pPr marL="0" indent="0" algn="ctr">
              <a:buNone/>
            </a:pPr>
            <a:r>
              <a:rPr lang="en-US"/>
              <a:t>ĐOÀN QUANG TUẤN AN - </a:t>
            </a:r>
            <a:r>
              <a:rPr lang="vi-VN"/>
              <a:t>23IT002</a:t>
            </a:r>
            <a:endParaRPr lang="en-US"/>
          </a:p>
          <a:p>
            <a:pPr marL="0" indent="0" algn="ctr">
              <a:buNone/>
            </a:pPr>
            <a:r>
              <a:rPr lang="en-US">
                <a:ea typeface="Calibri" panose="020F0502020204030204" pitchFamily="34" charset="0"/>
                <a:cs typeface="Times New Roman" panose="02020603050405020304" pitchFamily="18" charset="0"/>
              </a:rPr>
              <a:t>LÊ NGỌC HÙNG - 23IT094</a:t>
            </a:r>
          </a:p>
          <a:p>
            <a:pPr marL="0" indent="0">
              <a:buNone/>
            </a:pPr>
            <a:endParaRPr lang="en-US"/>
          </a:p>
          <a:p>
            <a:pPr marL="0" indent="0">
              <a:buNone/>
            </a:pPr>
            <a:r>
              <a:rPr lang="en-US"/>
              <a:t> </a:t>
            </a:r>
          </a:p>
          <a:p>
            <a:pPr marL="0" indent="0">
              <a:buNone/>
            </a:pPr>
            <a:r>
              <a:rPr lang="en-US"/>
              <a:t>                                  	Da Nang, </a:t>
            </a:r>
            <a:r>
              <a:rPr lang="vi-VN"/>
              <a:t>December 2025</a:t>
            </a:r>
            <a:endParaRPr lang="en-US"/>
          </a:p>
        </p:txBody>
      </p:sp>
    </p:spTree>
    <p:extLst>
      <p:ext uri="{BB962C8B-B14F-4D97-AF65-F5344CB8AC3E}">
        <p14:creationId xmlns:p14="http://schemas.microsoft.com/office/powerpoint/2010/main" val="98330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Connector 3">
            <a:extLst>
              <a:ext uri="{FF2B5EF4-FFF2-40B4-BE49-F238E27FC236}">
                <a16:creationId xmlns:a16="http://schemas.microsoft.com/office/drawing/2014/main" id="{49ED9F71-EF48-C707-7E5D-FD460EA34483}"/>
              </a:ext>
            </a:extLst>
          </p:cNvPr>
          <p:cNvSpPr/>
          <p:nvPr/>
        </p:nvSpPr>
        <p:spPr>
          <a:xfrm>
            <a:off x="887105" y="1914098"/>
            <a:ext cx="3098041" cy="30298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a:t>Content</a:t>
            </a:r>
          </a:p>
        </p:txBody>
      </p:sp>
      <p:sp>
        <p:nvSpPr>
          <p:cNvPr id="5" name="Rectangle: Rounded Corners 4">
            <a:extLst>
              <a:ext uri="{FF2B5EF4-FFF2-40B4-BE49-F238E27FC236}">
                <a16:creationId xmlns:a16="http://schemas.microsoft.com/office/drawing/2014/main" id="{44E1C547-863C-9938-FA02-AF50BC66DD4B}"/>
              </a:ext>
            </a:extLst>
          </p:cNvPr>
          <p:cNvSpPr/>
          <p:nvPr/>
        </p:nvSpPr>
        <p:spPr>
          <a:xfrm>
            <a:off x="4449169" y="1049172"/>
            <a:ext cx="4653887" cy="102358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500"/>
              <a:t>I. Introduction</a:t>
            </a:r>
          </a:p>
        </p:txBody>
      </p:sp>
      <p:sp>
        <p:nvSpPr>
          <p:cNvPr id="6" name="Rectangle: Rounded Corners 5">
            <a:extLst>
              <a:ext uri="{FF2B5EF4-FFF2-40B4-BE49-F238E27FC236}">
                <a16:creationId xmlns:a16="http://schemas.microsoft.com/office/drawing/2014/main" id="{E3ADD711-A7C8-0BE0-D4FD-E19335FD946C}"/>
              </a:ext>
            </a:extLst>
          </p:cNvPr>
          <p:cNvSpPr/>
          <p:nvPr/>
        </p:nvSpPr>
        <p:spPr>
          <a:xfrm>
            <a:off x="5841241" y="2304766"/>
            <a:ext cx="4380931" cy="111911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3500"/>
              <a:t>II. General research</a:t>
            </a:r>
          </a:p>
        </p:txBody>
      </p:sp>
      <p:sp>
        <p:nvSpPr>
          <p:cNvPr id="7" name="Rectangle: Rounded Corners 6">
            <a:extLst>
              <a:ext uri="{FF2B5EF4-FFF2-40B4-BE49-F238E27FC236}">
                <a16:creationId xmlns:a16="http://schemas.microsoft.com/office/drawing/2014/main" id="{F07518A5-A615-9CE0-A851-A6B317D4D4F6}"/>
              </a:ext>
            </a:extLst>
          </p:cNvPr>
          <p:cNvSpPr/>
          <p:nvPr/>
        </p:nvSpPr>
        <p:spPr>
          <a:xfrm>
            <a:off x="5841241" y="3824785"/>
            <a:ext cx="4380931" cy="111911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500"/>
              <a:t>III. System Design Analysis</a:t>
            </a:r>
          </a:p>
        </p:txBody>
      </p:sp>
      <p:sp>
        <p:nvSpPr>
          <p:cNvPr id="8" name="Rectangle: Rounded Corners 7">
            <a:extLst>
              <a:ext uri="{FF2B5EF4-FFF2-40B4-BE49-F238E27FC236}">
                <a16:creationId xmlns:a16="http://schemas.microsoft.com/office/drawing/2014/main" id="{A4783744-A5F0-5C04-F975-044E58FA6B27}"/>
              </a:ext>
            </a:extLst>
          </p:cNvPr>
          <p:cNvSpPr/>
          <p:nvPr/>
        </p:nvSpPr>
        <p:spPr>
          <a:xfrm>
            <a:off x="4449170" y="5249270"/>
            <a:ext cx="5295331" cy="111911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500"/>
              <a:t>IV. Conclusions and development directions</a:t>
            </a:r>
          </a:p>
        </p:txBody>
      </p:sp>
      <p:cxnSp>
        <p:nvCxnSpPr>
          <p:cNvPr id="12" name="Straight Arrow Connector 11">
            <a:extLst>
              <a:ext uri="{FF2B5EF4-FFF2-40B4-BE49-F238E27FC236}">
                <a16:creationId xmlns:a16="http://schemas.microsoft.com/office/drawing/2014/main" id="{CA67EC2A-0C3D-6B98-09E6-D1FB7047FFC6}"/>
              </a:ext>
            </a:extLst>
          </p:cNvPr>
          <p:cNvCxnSpPr>
            <a:cxnSpLocks/>
            <a:stCxn id="4" idx="6"/>
            <a:endCxn id="5" idx="1"/>
          </p:cNvCxnSpPr>
          <p:nvPr/>
        </p:nvCxnSpPr>
        <p:spPr>
          <a:xfrm flipV="1">
            <a:off x="3985146" y="1560963"/>
            <a:ext cx="464023" cy="1868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8774CD-02E1-AA96-8269-2725C8A9284B}"/>
              </a:ext>
            </a:extLst>
          </p:cNvPr>
          <p:cNvCxnSpPr>
            <a:cxnSpLocks/>
            <a:stCxn id="4" idx="6"/>
            <a:endCxn id="6" idx="1"/>
          </p:cNvCxnSpPr>
          <p:nvPr/>
        </p:nvCxnSpPr>
        <p:spPr>
          <a:xfrm flipV="1">
            <a:off x="3985146" y="2864324"/>
            <a:ext cx="1856095" cy="56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84D27F8-2434-2506-73A7-F64F33740C35}"/>
              </a:ext>
            </a:extLst>
          </p:cNvPr>
          <p:cNvCxnSpPr>
            <a:cxnSpLocks/>
            <a:stCxn id="4" idx="6"/>
            <a:endCxn id="7" idx="1"/>
          </p:cNvCxnSpPr>
          <p:nvPr/>
        </p:nvCxnSpPr>
        <p:spPr>
          <a:xfrm>
            <a:off x="3985146" y="3429000"/>
            <a:ext cx="1856095" cy="955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7A7261-D2C6-CD2E-EBDB-11704C3F8628}"/>
              </a:ext>
            </a:extLst>
          </p:cNvPr>
          <p:cNvCxnSpPr>
            <a:cxnSpLocks/>
            <a:stCxn id="4" idx="6"/>
            <a:endCxn id="8" idx="1"/>
          </p:cNvCxnSpPr>
          <p:nvPr/>
        </p:nvCxnSpPr>
        <p:spPr>
          <a:xfrm>
            <a:off x="3985146" y="3429000"/>
            <a:ext cx="464024" cy="2379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52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inVertic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Vertic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inVertic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arn(inVertical)">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993970"/>
            <a:ext cx="5264150" cy="659215"/>
          </a:xfrm>
        </p:spPr>
        <p:txBody>
          <a:bodyPr/>
          <a:lstStyle/>
          <a:p>
            <a:r>
              <a:rPr lang="en-US" sz="3600" b="1">
                <a:solidFill>
                  <a:srgbClr val="FF0000"/>
                </a:solidFill>
              </a:rPr>
              <a:t>I. Introduction</a:t>
            </a:r>
          </a:p>
        </p:txBody>
      </p:sp>
      <p:sp>
        <p:nvSpPr>
          <p:cNvPr id="3" name="Text Placeholder 2"/>
          <p:cNvSpPr>
            <a:spLocks noGrp="1"/>
          </p:cNvSpPr>
          <p:nvPr>
            <p:ph type="body" idx="1"/>
          </p:nvPr>
        </p:nvSpPr>
        <p:spPr>
          <a:xfrm>
            <a:off x="1042926" y="1551187"/>
            <a:ext cx="11043356" cy="4581524"/>
          </a:xfrm>
        </p:spPr>
        <p:txBody>
          <a:bodyPr>
            <a:noAutofit/>
          </a:bodyPr>
          <a:lstStyle/>
          <a:p>
            <a:r>
              <a:rPr lang="en-US" sz="2000">
                <a:solidFill>
                  <a:schemeClr val="tx1"/>
                </a:solidFill>
              </a:rPr>
              <a:t>	In the context of the strong development of information technology and online applications, the demand for entertainment through online games is increasingly popular. Online fighting games not only provide an entertaining experience but also create an interactive, competitive environment between many players in different geographical locations.
	However, many information technology students today mainly stop at learning the theory of network programming, client-server models, but have not had many opportunities to build a practical application capable of real-time communication between many users. From that fact, the topic "</a:t>
            </a:r>
            <a:r>
              <a:rPr lang="en-US" sz="2000" b="1">
                <a:solidFill>
                  <a:schemeClr val="tx1"/>
                </a:solidFill>
              </a:rPr>
              <a:t>Building an online fighting game application Battleship according to the client-server model</a:t>
            </a:r>
            <a:r>
              <a:rPr lang="en-US" sz="2000">
                <a:solidFill>
                  <a:schemeClr val="tx1"/>
                </a:solidFill>
              </a:rPr>
              <a:t>" was chosen to combine entertainment elements and the application of professional knowledge.
	The application allows multiple players to participate in the Battleship game in the form of online fighting, create – join the playroom, arrange ships, make shots, and track the results of matches. In addition, the system also supports account management, playing rooms, and match history. The construction of this topic helps the implementer to consolidate and apply the knowledge of network programming, socket communication, synchronous processing, as well as practice skills in analyzing, designing and deploying a complete client-server system.</a:t>
            </a:r>
          </a:p>
        </p:txBody>
      </p:sp>
      <p:sp>
        <p:nvSpPr>
          <p:cNvPr id="4" name="Arrow: Right 3">
            <a:extLst>
              <a:ext uri="{FF2B5EF4-FFF2-40B4-BE49-F238E27FC236}">
                <a16:creationId xmlns:a16="http://schemas.microsoft.com/office/drawing/2014/main" id="{2B95BB82-2A5B-0C65-1F38-2B96D232D883}"/>
              </a:ext>
            </a:extLst>
          </p:cNvPr>
          <p:cNvSpPr/>
          <p:nvPr/>
        </p:nvSpPr>
        <p:spPr>
          <a:xfrm>
            <a:off x="6350" y="993970"/>
            <a:ext cx="825500" cy="659215"/>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2459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969C4E6-F758-8ED5-DEBB-F2457567E7F6}"/>
              </a:ext>
            </a:extLst>
          </p:cNvPr>
          <p:cNvSpPr txBox="1"/>
          <p:nvPr/>
        </p:nvSpPr>
        <p:spPr>
          <a:xfrm>
            <a:off x="313899" y="1181376"/>
            <a:ext cx="11133354" cy="5139869"/>
          </a:xfrm>
          <a:prstGeom prst="rect">
            <a:avLst/>
          </a:prstGeom>
          <a:noFill/>
        </p:spPr>
        <p:txBody>
          <a:bodyPr wrap="square">
            <a:spAutoFit/>
          </a:bodyPr>
          <a:lstStyle/>
          <a:p>
            <a:r>
              <a:rPr lang="en-US" sz="2800" b="1">
                <a:solidFill>
                  <a:srgbClr val="FF0000"/>
                </a:solidFill>
              </a:rPr>
              <a:t>II. GENERAL RESEARCH</a:t>
            </a:r>
          </a:p>
          <a:p>
            <a:pPr marL="457200" indent="-457200">
              <a:buAutoNum type="arabicPeriod"/>
            </a:pPr>
            <a:r>
              <a:rPr lang="en-US" sz="2400" b="1">
                <a:solidFill>
                  <a:srgbClr val="FF0000"/>
                </a:solidFill>
              </a:rPr>
              <a:t>Objectives:</a:t>
            </a:r>
          </a:p>
          <a:p>
            <a:r>
              <a:rPr lang="en-US"/>
              <a:t>The goal of the project "Building a Battleship online fighting game application according to the client-server model" is to develop a stable online game system, support multiplayer, ensure interactivity and good experience for users, and apply the knowledge of network programming to the actual product. Specifically, the objectives include:</a:t>
            </a:r>
          </a:p>
          <a:p>
            <a:pPr marL="285750" indent="-285750">
              <a:buFont typeface="Arial" panose="020B0604020202020204" pitchFamily="34" charset="0"/>
              <a:buChar char="•"/>
            </a:pPr>
            <a:r>
              <a:rPr lang="en-US" b="1"/>
              <a:t>Build a Battleship game application with a friendly and easy-to-use interface: </a:t>
            </a:r>
            <a:r>
              <a:rPr lang="en-US"/>
              <a:t>intuitive interface design, simple operation, making it easy for players to log in, create rooms, join rooms, arrange ships, and play games without much difficulty.
</a:t>
            </a:r>
            <a:r>
              <a:rPr lang="en-US" b="1"/>
              <a:t>Implementation of the client-server model for online fighting games: </a:t>
            </a:r>
            <a:r>
              <a:rPr lang="en-US"/>
              <a:t>building a central server to manage connections, game rooms, and game order; Clients will connect to the server to send and receive data (moves, chessboard status, win/loss results) in real time.
</a:t>
            </a:r>
            <a:r>
              <a:rPr lang="en-US" b="1"/>
              <a:t>Supports player and match management functions: </a:t>
            </a:r>
            <a:r>
              <a:rPr lang="en-US"/>
              <a:t>allows to manage user account information, playing room, player status in the room, save some basic information about match history (players, time, results,...).
</a:t>
            </a:r>
            <a:r>
              <a:rPr lang="en-US" b="1"/>
              <a:t>Improve the ability to apply professional knowledge: </a:t>
            </a:r>
            <a:r>
              <a:rPr lang="en-US"/>
              <a:t>apply knowledge of network programming, sockets, TCP/IP protocols, multithreading, as well as software system analysis and design, thereby helping implementers accumulate experience for practical projects in the future.</a:t>
            </a:r>
          </a:p>
          <a:p>
            <a:endParaRPr lang="en-US" sz="2400" b="1">
              <a:solidFill>
                <a:srgbClr val="FF0000"/>
              </a:solidFill>
            </a:endParaRPr>
          </a:p>
        </p:txBody>
      </p:sp>
    </p:spTree>
    <p:extLst>
      <p:ext uri="{BB962C8B-B14F-4D97-AF65-F5344CB8AC3E}">
        <p14:creationId xmlns:p14="http://schemas.microsoft.com/office/powerpoint/2010/main" val="21057371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9518-3ADF-4674-A002-F405CE4D449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FF36EA-1CCD-7017-61B3-C26C32EC1C62}"/>
              </a:ext>
            </a:extLst>
          </p:cNvPr>
          <p:cNvSpPr txBox="1"/>
          <p:nvPr/>
        </p:nvSpPr>
        <p:spPr>
          <a:xfrm>
            <a:off x="313899" y="1181376"/>
            <a:ext cx="11133354" cy="2616101"/>
          </a:xfrm>
          <a:prstGeom prst="rect">
            <a:avLst/>
          </a:prstGeom>
          <a:noFill/>
        </p:spPr>
        <p:txBody>
          <a:bodyPr wrap="square">
            <a:spAutoFit/>
          </a:bodyPr>
          <a:lstStyle/>
          <a:p>
            <a:r>
              <a:rPr lang="en-US" sz="2800" b="1">
                <a:solidFill>
                  <a:srgbClr val="FF0000"/>
                </a:solidFill>
              </a:rPr>
              <a:t>II. GENERAL RESEARCH</a:t>
            </a:r>
          </a:p>
          <a:p>
            <a:pPr marL="457200" indent="-457200">
              <a:buFont typeface="+mj-lt"/>
              <a:buAutoNum type="arabicPeriod" startAt="2"/>
            </a:pPr>
            <a:r>
              <a:rPr lang="en-US" sz="2400" b="1">
                <a:solidFill>
                  <a:srgbClr val="FF0000"/>
                </a:solidFill>
              </a:rPr>
              <a:t>Applied Technology:</a:t>
            </a:r>
            <a:endParaRPr lang="en-US" sz="2800"/>
          </a:p>
          <a:p>
            <a:pPr marL="285750" indent="-285750">
              <a:buFont typeface="Arial" panose="020B0604020202020204" pitchFamily="34" charset="0"/>
              <a:buChar char="•"/>
            </a:pPr>
            <a:r>
              <a:rPr lang="en-US" sz="2800"/>
              <a:t>Python Language
Network programming with TCP/IP protocol
MySQL Data Management System
Support Tools: Visual Studio Code (VSCode), XAMPP</a:t>
            </a:r>
            <a:endParaRPr lang="en-US" b="1" i="1"/>
          </a:p>
        </p:txBody>
      </p:sp>
    </p:spTree>
    <p:extLst>
      <p:ext uri="{BB962C8B-B14F-4D97-AF65-F5344CB8AC3E}">
        <p14:creationId xmlns:p14="http://schemas.microsoft.com/office/powerpoint/2010/main" val="616005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DF57-EA55-30A7-2596-09BD531BE9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4CA3C5-8B49-B96A-9827-BEE484A1F58D}"/>
              </a:ext>
            </a:extLst>
          </p:cNvPr>
          <p:cNvSpPr txBox="1"/>
          <p:nvPr/>
        </p:nvSpPr>
        <p:spPr>
          <a:xfrm>
            <a:off x="289322" y="1031587"/>
            <a:ext cx="11902678" cy="553998"/>
          </a:xfrm>
          <a:prstGeom prst="rect">
            <a:avLst/>
          </a:prstGeom>
          <a:noFill/>
        </p:spPr>
        <p:txBody>
          <a:bodyPr wrap="square">
            <a:spAutoFit/>
          </a:bodyPr>
          <a:lstStyle/>
          <a:p>
            <a:r>
              <a:rPr lang="en-US" sz="3000" b="1">
                <a:solidFill>
                  <a:srgbClr val="FF0000"/>
                </a:solidFill>
              </a:rPr>
              <a:t>III. SYSTEM DESIGN ANALYSIS:</a:t>
            </a:r>
            <a:endParaRPr lang="en-US" sz="3000">
              <a:solidFill>
                <a:srgbClr val="FF0000"/>
              </a:solidFill>
            </a:endParaRPr>
          </a:p>
        </p:txBody>
      </p:sp>
      <p:sp>
        <p:nvSpPr>
          <p:cNvPr id="3" name="Hộp Văn bản 2">
            <a:extLst>
              <a:ext uri="{FF2B5EF4-FFF2-40B4-BE49-F238E27FC236}">
                <a16:creationId xmlns:a16="http://schemas.microsoft.com/office/drawing/2014/main" id="{DAF755D3-A374-4789-B4F7-13434019B524}"/>
              </a:ext>
            </a:extLst>
          </p:cNvPr>
          <p:cNvSpPr txBox="1"/>
          <p:nvPr/>
        </p:nvSpPr>
        <p:spPr>
          <a:xfrm>
            <a:off x="707735" y="1742536"/>
            <a:ext cx="9704348" cy="4216539"/>
          </a:xfrm>
          <a:prstGeom prst="rect">
            <a:avLst/>
          </a:prstGeom>
          <a:noFill/>
        </p:spPr>
        <p:txBody>
          <a:bodyPr wrap="square" rtlCol="0">
            <a:spAutoFit/>
          </a:bodyPr>
          <a:lstStyle/>
          <a:p>
            <a:r>
              <a:rPr lang="en-US" sz="2400" b="1" i="1">
                <a:latin typeface="Times New Roman" panose="02020603050405020304" pitchFamily="18" charset="0"/>
                <a:ea typeface="SimSun" panose="02010600030101010101" pitchFamily="2" charset="-122"/>
                <a:cs typeface="Times New Roman" panose="02020603050405020304" pitchFamily="18" charset="0"/>
              </a:rPr>
              <a:t>Functional Requirements</a:t>
            </a:r>
          </a:p>
          <a:p>
            <a:r>
              <a:rPr lang="en-US"/>
              <a:t>For Players:</a:t>
            </a:r>
          </a:p>
          <a:p>
            <a:pPr marL="285750" indent="-285750">
              <a:buFont typeface="Arial" panose="020B0604020202020204" pitchFamily="34" charset="0"/>
              <a:buChar char="•"/>
            </a:pPr>
            <a:r>
              <a:rPr lang="en-US"/>
              <a:t>Register/log in to the app to join the game.
Create a room or join an available playroom.
Competition:
Ship Layout
Make a shot
See the result of the game.
Message other players in the playroom.</a:t>
            </a:r>
          </a:p>
          <a:p>
            <a:pPr lvl="0"/>
            <a:r>
              <a:rPr lang="en-US"/>
              <a:t>For Administrators:</a:t>
            </a:r>
          </a:p>
          <a:p>
            <a:pPr marL="285750" lvl="0" indent="-285750">
              <a:buFont typeface="Arial" panose="020B0604020202020204" pitchFamily="34" charset="0"/>
              <a:buChar char="•"/>
            </a:pPr>
            <a:r>
              <a:rPr lang="en-US"/>
              <a:t>Player management (view player lists, lock, unlock, delete player accounts).
Manage playrooms (see playroom list, cancel playrooms).
View match history (see match list, see match details).</a:t>
            </a:r>
          </a:p>
          <a:p>
            <a:endParaRPr lang="en-US" sz="2800" b="1"/>
          </a:p>
        </p:txBody>
      </p:sp>
    </p:spTree>
    <p:extLst>
      <p:ext uri="{BB962C8B-B14F-4D97-AF65-F5344CB8AC3E}">
        <p14:creationId xmlns:p14="http://schemas.microsoft.com/office/powerpoint/2010/main" val="15582878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F996-0DF4-3C46-C37F-53F62F57C9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C7E7508-F0AB-6293-4149-B3692B72F97F}"/>
              </a:ext>
            </a:extLst>
          </p:cNvPr>
          <p:cNvSpPr txBox="1"/>
          <p:nvPr/>
        </p:nvSpPr>
        <p:spPr>
          <a:xfrm>
            <a:off x="289322" y="1031587"/>
            <a:ext cx="11902678" cy="553998"/>
          </a:xfrm>
          <a:prstGeom prst="rect">
            <a:avLst/>
          </a:prstGeom>
          <a:noFill/>
        </p:spPr>
        <p:txBody>
          <a:bodyPr wrap="square">
            <a:spAutoFit/>
          </a:bodyPr>
          <a:lstStyle/>
          <a:p>
            <a:r>
              <a:rPr lang="en-US" sz="3000" b="1">
                <a:solidFill>
                  <a:srgbClr val="FF0000"/>
                </a:solidFill>
              </a:rPr>
              <a:t>III. SYSTEM DESIGN ANALYSIS:</a:t>
            </a:r>
            <a:endParaRPr lang="en-US" sz="3000">
              <a:solidFill>
                <a:srgbClr val="FF0000"/>
              </a:solidFill>
            </a:endParaRPr>
          </a:p>
        </p:txBody>
      </p:sp>
      <p:sp>
        <p:nvSpPr>
          <p:cNvPr id="3" name="Hộp Văn bản 2">
            <a:extLst>
              <a:ext uri="{FF2B5EF4-FFF2-40B4-BE49-F238E27FC236}">
                <a16:creationId xmlns:a16="http://schemas.microsoft.com/office/drawing/2014/main" id="{9DD148BD-FABF-3D3D-59E9-4523F2C3AB0C}"/>
              </a:ext>
            </a:extLst>
          </p:cNvPr>
          <p:cNvSpPr txBox="1"/>
          <p:nvPr/>
        </p:nvSpPr>
        <p:spPr>
          <a:xfrm>
            <a:off x="707735" y="1742536"/>
            <a:ext cx="9704348" cy="1684820"/>
          </a:xfrm>
          <a:prstGeom prst="rect">
            <a:avLst/>
          </a:prstGeom>
          <a:noFill/>
        </p:spPr>
        <p:txBody>
          <a:bodyPr wrap="square" rtlCol="0">
            <a:spAutoFit/>
          </a:bodyPr>
          <a:lstStyle/>
          <a:p>
            <a:pPr algn="just">
              <a:lnSpc>
                <a:spcPct val="115000"/>
              </a:lnSpc>
              <a:spcBef>
                <a:spcPts val="600"/>
              </a:spcBef>
            </a:pPr>
            <a:r>
              <a:rPr lang="en-US" sz="2400" b="1" i="1">
                <a:latin typeface="Times New Roman" panose="02020603050405020304" pitchFamily="18" charset="0"/>
                <a:ea typeface="SimSun" panose="02010600030101010101" pitchFamily="2" charset="-122"/>
                <a:cs typeface="Times New Roman" panose="02020603050405020304" pitchFamily="18" charset="0"/>
              </a:rPr>
              <a:t>Non-functional requirements</a:t>
            </a:r>
          </a:p>
          <a:p>
            <a:pPr marL="285750" indent="-285750" algn="just">
              <a:lnSpc>
                <a:spcPct val="115000"/>
              </a:lnSpc>
              <a:spcBef>
                <a:spcPts val="600"/>
              </a:spcBef>
              <a:buFont typeface="Arial" panose="020B0604020202020204" pitchFamily="34" charset="0"/>
              <a:buChar char="•"/>
            </a:pPr>
            <a:r>
              <a:rPr lang="en-US"/>
              <a:t>User-friendly interface, easy to use with everyone.
Strictly secure user information.
Ability to expand the system later.</a:t>
            </a:r>
          </a:p>
        </p:txBody>
      </p:sp>
    </p:spTree>
    <p:extLst>
      <p:ext uri="{BB962C8B-B14F-4D97-AF65-F5344CB8AC3E}">
        <p14:creationId xmlns:p14="http://schemas.microsoft.com/office/powerpoint/2010/main" val="11337221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AFF339-CB07-9F5C-6B98-E01EE447EB5B}"/>
              </a:ext>
            </a:extLst>
          </p:cNvPr>
          <p:cNvSpPr txBox="1"/>
          <p:nvPr/>
        </p:nvSpPr>
        <p:spPr>
          <a:xfrm>
            <a:off x="185738" y="887135"/>
            <a:ext cx="11487149" cy="5970865"/>
          </a:xfrm>
          <a:prstGeom prst="rect">
            <a:avLst/>
          </a:prstGeom>
          <a:noFill/>
        </p:spPr>
        <p:txBody>
          <a:bodyPr wrap="square">
            <a:spAutoFit/>
          </a:bodyPr>
          <a:lstStyle/>
          <a:p>
            <a:r>
              <a:rPr lang="en-US" sz="2800" b="1">
                <a:solidFill>
                  <a:srgbClr val="FF0000"/>
                </a:solidFill>
              </a:rPr>
              <a:t>III. SYSTEM DESIGN ANALYSIS:</a:t>
            </a:r>
          </a:p>
          <a:p>
            <a:r>
              <a:rPr lang="en-US" sz="2800" b="1" u="sng">
                <a:solidFill>
                  <a:srgbClr val="FF0000"/>
                </a:solidFill>
              </a:rPr>
              <a:t>System Operation Description:</a:t>
            </a:r>
            <a:r>
              <a:rPr lang="en-US"/>
              <a:t>	</a:t>
            </a:r>
          </a:p>
          <a:p>
            <a:r>
              <a:rPr lang="en-US"/>
              <a:t>	The online fighting game application Battleship is designed to simulate a sea battle between two players in a Client–Server model. The app offers an engaging competitive, interactive experience, allowing players to compete intellectually and tactically against each other in a cyber environment.
	Players can easily "Register/log in to the app" to participate. Once logged in, players will enter the main lobby, where they can "create a new play room" or "join an existing play room" created by someone else.
	When a room has enough 2 people, the game moves to the preparation stage. Each player has a 10x10 and 60-second field to "arrange their 4 ships" (1x5, 1x4, 1x3 and 1x2 sizes) into their arbitrary positions. Each person's ship location is completely hidden from the opponent.</a:t>
            </a:r>
          </a:p>
          <a:p>
            <a:r>
              <a:rPr lang="en-US"/>
              <a:t>	Once both have been arranged, the Server will "randomly select the player who goes first". In turn, players have 15 seconds to "make a shot" by selecting a tile in their opponent's field. The application (Server) will process and return the results immediately:</a:t>
            </a:r>
          </a:p>
          <a:p>
            <a:pPr marL="285750" lvl="0" indent="-285750">
              <a:buFont typeface="Arial" panose="020B0604020202020204" pitchFamily="34" charset="0"/>
              <a:buChar char="•"/>
            </a:pPr>
            <a:r>
              <a:rPr lang="en-US"/>
              <a:t>If the ship container is "hit", the app will notify it and the player is "keep firing until it misses".
If the "shot misses", the application notifies and "passes the turn to the opponent".
When all the cells of a ship are fired, the ship is considered "destroyed".</a:t>
            </a:r>
          </a:p>
          <a:p>
            <a:r>
              <a:rPr lang="en-US"/>
              <a:t>	During the competition, players can "message other players in the playroom" to increase interactivity. The game ends when one player destroys all of the enemy's ships, and the player can "see the win/lose outcome" shortly afterwards.</a:t>
            </a:r>
          </a:p>
          <a:p>
            <a:endParaRPr lang="en-US" sz="20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09558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22F2-AF52-FE59-406C-95F7DD2677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D5D4B0-1AC4-5479-E7B4-5728333BA415}"/>
              </a:ext>
            </a:extLst>
          </p:cNvPr>
          <p:cNvSpPr txBox="1"/>
          <p:nvPr/>
        </p:nvSpPr>
        <p:spPr>
          <a:xfrm>
            <a:off x="185738" y="1010841"/>
            <a:ext cx="11487149" cy="4001095"/>
          </a:xfrm>
          <a:prstGeom prst="rect">
            <a:avLst/>
          </a:prstGeom>
          <a:noFill/>
        </p:spPr>
        <p:txBody>
          <a:bodyPr wrap="square">
            <a:spAutoFit/>
          </a:bodyPr>
          <a:lstStyle/>
          <a:p>
            <a:r>
              <a:rPr lang="en-US" sz="2800" b="1">
                <a:solidFill>
                  <a:srgbClr val="FF0000"/>
                </a:solidFill>
              </a:rPr>
              <a:t>III. SYSTEM DESIGN ANALYSIS:
System Operation Description:</a:t>
            </a:r>
            <a:endParaRPr lang="en-US" sz="2400">
              <a:effectLst/>
              <a:latin typeface="Times New Roman" panose="02020603050405020304" pitchFamily="18" charset="0"/>
              <a:ea typeface="Times New Roman" panose="02020603050405020304" pitchFamily="18" charset="0"/>
            </a:endParaRPr>
          </a:p>
          <a:p>
            <a:r>
              <a:rPr lang="en-US"/>
              <a:t>	On the Server side, this is the automated processing center, which is mainly responsible for "coordinating shots", processing results, "status synchronization" and "time monitoring" strictly (60 seconds of placing the train, 15 seconds per turn). The server also automatically "manages the playing room" (creates, updates, deletes when the match ends) and "stores all account information and match results" in the database. It is necessary to distinguish the Server (automatic) role from the Administrator role, which is a user who has the privilege of monitoring and manually intervening in the system when necessary, such as "player management" (locking out violating accounts) or "game room management" (destroying faulty rooms).</a:t>
            </a:r>
          </a:p>
          <a:p>
            <a:endParaRPr lang="en-US"/>
          </a:p>
          <a:p>
            <a:r>
              <a:rPr lang="en-US"/>
              <a:t>	The entire application is developed with a "friendly, lively interface", supporting players to participate quickly and easily operate. This is a good example for a Client–Server networking application, which helps learners practice "socket programming, multi-threading, and data management".</a:t>
            </a:r>
          </a:p>
        </p:txBody>
      </p:sp>
    </p:spTree>
    <p:extLst>
      <p:ext uri="{BB962C8B-B14F-4D97-AF65-F5344CB8AC3E}">
        <p14:creationId xmlns:p14="http://schemas.microsoft.com/office/powerpoint/2010/main" val="3618560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A69F-464B-FB32-918B-7849533863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C6F8F9-1DF8-D451-435B-53952EB7219B}"/>
              </a:ext>
            </a:extLst>
          </p:cNvPr>
          <p:cNvSpPr txBox="1"/>
          <p:nvPr/>
        </p:nvSpPr>
        <p:spPr>
          <a:xfrm>
            <a:off x="185738" y="1010841"/>
            <a:ext cx="11487149" cy="954107"/>
          </a:xfrm>
          <a:prstGeom prst="rect">
            <a:avLst/>
          </a:prstGeom>
          <a:noFill/>
        </p:spPr>
        <p:txBody>
          <a:bodyPr wrap="square">
            <a:spAutoFit/>
          </a:bodyPr>
          <a:lstStyle/>
          <a:p>
            <a:r>
              <a:rPr lang="en-US" sz="2800" b="1">
                <a:solidFill>
                  <a:srgbClr val="FF0000"/>
                </a:solidFill>
              </a:rPr>
              <a:t>III. SYSTEM DESIGN ANALYSIS:
Database Diagram:</a:t>
            </a:r>
            <a:endParaRPr lang="en-US" sz="2000">
              <a:effectLst/>
              <a:latin typeface="Times New Roman" panose="02020603050405020304" pitchFamily="18" charset="0"/>
              <a:ea typeface="Times New Roman" panose="02020603050405020304" pitchFamily="18" charset="0"/>
            </a:endParaRPr>
          </a:p>
        </p:txBody>
      </p:sp>
      <p:pic>
        <p:nvPicPr>
          <p:cNvPr id="2" name="Picture 43">
            <a:extLst>
              <a:ext uri="{FF2B5EF4-FFF2-40B4-BE49-F238E27FC236}">
                <a16:creationId xmlns:a16="http://schemas.microsoft.com/office/drawing/2014/main" id="{E82915AF-82D2-928E-D0A5-5AA7C63A474C}"/>
              </a:ext>
            </a:extLst>
          </p:cNvPr>
          <p:cNvPicPr>
            <a:picLocks noChangeAspect="1"/>
          </p:cNvPicPr>
          <p:nvPr/>
        </p:nvPicPr>
        <p:blipFill>
          <a:blip r:embed="rId2"/>
          <a:stretch>
            <a:fillRect/>
          </a:stretch>
        </p:blipFill>
        <p:spPr>
          <a:xfrm>
            <a:off x="2760844" y="1929825"/>
            <a:ext cx="6670311" cy="4095418"/>
          </a:xfrm>
          <a:prstGeom prst="rect">
            <a:avLst/>
          </a:prstGeom>
        </p:spPr>
      </p:pic>
    </p:spTree>
    <p:extLst>
      <p:ext uri="{BB962C8B-B14F-4D97-AF65-F5344CB8AC3E}">
        <p14:creationId xmlns:p14="http://schemas.microsoft.com/office/powerpoint/2010/main" val="2358843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AC1BA6D-0151-EFEA-925E-D9B5A4D5F105}"/>
              </a:ext>
            </a:extLst>
          </p:cNvPr>
          <p:cNvSpPr>
            <a:spLocks noGrp="1"/>
          </p:cNvSpPr>
          <p:nvPr>
            <p:ph type="title"/>
          </p:nvPr>
        </p:nvSpPr>
        <p:spPr/>
        <p:txBody>
          <a:bodyPr/>
          <a:lstStyle/>
          <a:p>
            <a:endParaRPr lang="en-US"/>
          </a:p>
        </p:txBody>
      </p:sp>
      <p:sp>
        <p:nvSpPr>
          <p:cNvPr id="3" name="Chỗ dành sẵn cho Văn bản 2">
            <a:extLst>
              <a:ext uri="{FF2B5EF4-FFF2-40B4-BE49-F238E27FC236}">
                <a16:creationId xmlns:a16="http://schemas.microsoft.com/office/drawing/2014/main" id="{F3577A0B-02E6-6C8D-EFDC-EB6EFEC2782D}"/>
              </a:ext>
            </a:extLst>
          </p:cNvPr>
          <p:cNvSpPr>
            <a:spLocks noGrp="1"/>
          </p:cNvSpPr>
          <p:nvPr>
            <p:ph type="body" idx="1"/>
          </p:nvPr>
        </p:nvSpPr>
        <p:spPr/>
        <p:txBody>
          <a:bodyPr/>
          <a:lstStyle/>
          <a:p>
            <a:endParaRPr lang="en-US"/>
          </a:p>
        </p:txBody>
      </p:sp>
      <p:pic>
        <p:nvPicPr>
          <p:cNvPr id="5" name="Picture 43">
            <a:extLst>
              <a:ext uri="{FF2B5EF4-FFF2-40B4-BE49-F238E27FC236}">
                <a16:creationId xmlns:a16="http://schemas.microsoft.com/office/drawing/2014/main" id="{B4DBBC85-38A2-43C9-1316-17315BF0666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79846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246178-E9D3-C285-4C39-D1CF30314C52}"/>
              </a:ext>
            </a:extLst>
          </p:cNvPr>
          <p:cNvSpPr txBox="1"/>
          <p:nvPr/>
        </p:nvSpPr>
        <p:spPr>
          <a:xfrm>
            <a:off x="289322" y="1031587"/>
            <a:ext cx="11902678" cy="553998"/>
          </a:xfrm>
          <a:prstGeom prst="rect">
            <a:avLst/>
          </a:prstGeom>
          <a:noFill/>
        </p:spPr>
        <p:txBody>
          <a:bodyPr wrap="square">
            <a:spAutoFit/>
          </a:bodyPr>
          <a:lstStyle/>
          <a:p>
            <a:r>
              <a:rPr lang="en-US" sz="3000" b="1">
                <a:solidFill>
                  <a:srgbClr val="FF0000"/>
                </a:solidFill>
              </a:rPr>
              <a:t>III. SYSTEM DESIGN ANALYSIS:</a:t>
            </a:r>
            <a:endParaRPr lang="en-US" sz="3000">
              <a:solidFill>
                <a:srgbClr val="FF0000"/>
              </a:solidFill>
            </a:endParaRPr>
          </a:p>
        </p:txBody>
      </p:sp>
      <p:sp>
        <p:nvSpPr>
          <p:cNvPr id="3" name="Hộp Văn bản 2">
            <a:extLst>
              <a:ext uri="{FF2B5EF4-FFF2-40B4-BE49-F238E27FC236}">
                <a16:creationId xmlns:a16="http://schemas.microsoft.com/office/drawing/2014/main" id="{C7FA150A-F679-4B1C-466B-D0F2AC4497B0}"/>
              </a:ext>
            </a:extLst>
          </p:cNvPr>
          <p:cNvSpPr txBox="1"/>
          <p:nvPr/>
        </p:nvSpPr>
        <p:spPr>
          <a:xfrm>
            <a:off x="289322" y="1585585"/>
            <a:ext cx="2912977" cy="523220"/>
          </a:xfrm>
          <a:prstGeom prst="rect">
            <a:avLst/>
          </a:prstGeom>
          <a:noFill/>
        </p:spPr>
        <p:txBody>
          <a:bodyPr wrap="none" rtlCol="0">
            <a:spAutoFit/>
          </a:bodyPr>
          <a:lstStyle/>
          <a:p>
            <a:r>
              <a:rPr lang="en-US" sz="2800" b="1" u="sng">
                <a:solidFill>
                  <a:srgbClr val="FF0000"/>
                </a:solidFill>
              </a:rPr>
              <a:t>Use-case diagram:</a:t>
            </a:r>
          </a:p>
        </p:txBody>
      </p:sp>
      <p:pic>
        <p:nvPicPr>
          <p:cNvPr id="2" name="Picture 1">
            <a:extLst>
              <a:ext uri="{FF2B5EF4-FFF2-40B4-BE49-F238E27FC236}">
                <a16:creationId xmlns:a16="http://schemas.microsoft.com/office/drawing/2014/main" id="{476E6CE4-A757-0EA3-A0C9-045D9AC51F42}"/>
              </a:ext>
            </a:extLst>
          </p:cNvPr>
          <p:cNvPicPr>
            <a:picLocks noChangeAspect="1"/>
          </p:cNvPicPr>
          <p:nvPr/>
        </p:nvPicPr>
        <p:blipFill>
          <a:blip r:embed="rId2"/>
          <a:stretch>
            <a:fillRect/>
          </a:stretch>
        </p:blipFill>
        <p:spPr>
          <a:xfrm>
            <a:off x="3215640" y="1587500"/>
            <a:ext cx="7250974" cy="4635764"/>
          </a:xfrm>
          <a:prstGeom prst="rect">
            <a:avLst/>
          </a:prstGeom>
        </p:spPr>
      </p:pic>
    </p:spTree>
    <p:extLst>
      <p:ext uri="{BB962C8B-B14F-4D97-AF65-F5344CB8AC3E}">
        <p14:creationId xmlns:p14="http://schemas.microsoft.com/office/powerpoint/2010/main" val="35734496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FD55775-05AD-D7EE-22D2-E99B38B34100}"/>
              </a:ext>
            </a:extLst>
          </p:cNvPr>
          <p:cNvSpPr>
            <a:spLocks noGrp="1"/>
          </p:cNvSpPr>
          <p:nvPr>
            <p:ph type="title"/>
          </p:nvPr>
        </p:nvSpPr>
        <p:spPr/>
        <p:txBody>
          <a:bodyPr/>
          <a:lstStyle/>
          <a:p>
            <a:endParaRPr lang="en-US"/>
          </a:p>
        </p:txBody>
      </p:sp>
      <p:sp>
        <p:nvSpPr>
          <p:cNvPr id="3" name="Chỗ dành sẵn cho Văn bản 2">
            <a:extLst>
              <a:ext uri="{FF2B5EF4-FFF2-40B4-BE49-F238E27FC236}">
                <a16:creationId xmlns:a16="http://schemas.microsoft.com/office/drawing/2014/main" id="{21F0BD53-E63B-7466-C4C9-EB2F22D9E75C}"/>
              </a:ext>
            </a:extLst>
          </p:cNvPr>
          <p:cNvSpPr>
            <a:spLocks noGrp="1"/>
          </p:cNvSpPr>
          <p:nvPr>
            <p:ph type="body" idx="1"/>
          </p:nvPr>
        </p:nvSpPr>
        <p:spPr/>
        <p:txBody>
          <a:bodyPr/>
          <a:lstStyle/>
          <a:p>
            <a:endParaRPr lang="en-US"/>
          </a:p>
        </p:txBody>
      </p:sp>
      <p:pic>
        <p:nvPicPr>
          <p:cNvPr id="5" name="Picture 1">
            <a:extLst>
              <a:ext uri="{FF2B5EF4-FFF2-40B4-BE49-F238E27FC236}">
                <a16:creationId xmlns:a16="http://schemas.microsoft.com/office/drawing/2014/main" id="{05FA2696-7F7F-FE71-F12E-184DEDB111F1}"/>
              </a:ext>
            </a:extLst>
          </p:cNvPr>
          <p:cNvPicPr>
            <a:picLocks noChangeAspect="1"/>
          </p:cNvPicPr>
          <p:nvPr/>
        </p:nvPicPr>
        <p:blipFill>
          <a:blip r:embed="rId2"/>
          <a:stretch>
            <a:fillRect/>
          </a:stretch>
        </p:blipFill>
        <p:spPr>
          <a:xfrm>
            <a:off x="-1" y="-1"/>
            <a:ext cx="12192001" cy="6858001"/>
          </a:xfrm>
          <a:prstGeom prst="rect">
            <a:avLst/>
          </a:prstGeom>
        </p:spPr>
      </p:pic>
    </p:spTree>
    <p:extLst>
      <p:ext uri="{BB962C8B-B14F-4D97-AF65-F5344CB8AC3E}">
        <p14:creationId xmlns:p14="http://schemas.microsoft.com/office/powerpoint/2010/main" val="4030481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05B2-DE43-9B73-3791-7E7016A33F6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FCABCB-0A5F-9A19-231A-6C796AEFE95D}"/>
              </a:ext>
            </a:extLst>
          </p:cNvPr>
          <p:cNvSpPr txBox="1"/>
          <p:nvPr/>
        </p:nvSpPr>
        <p:spPr>
          <a:xfrm>
            <a:off x="185738" y="1010841"/>
            <a:ext cx="11487149" cy="2369880"/>
          </a:xfrm>
          <a:prstGeom prst="rect">
            <a:avLst/>
          </a:prstGeom>
          <a:noFill/>
        </p:spPr>
        <p:txBody>
          <a:bodyPr wrap="square">
            <a:spAutoFit/>
          </a:bodyPr>
          <a:lstStyle/>
          <a:p>
            <a:r>
              <a:rPr lang="en-US" sz="2800" b="1">
                <a:solidFill>
                  <a:srgbClr val="FF0000"/>
                </a:solidFill>
              </a:rPr>
              <a:t>III. SYSTEM DESIGN ANALYSIS:</a:t>
            </a:r>
            <a:endParaRPr lang="en-US" sz="2000">
              <a:effectLst/>
              <a:latin typeface="Times New Roman" panose="02020603050405020304" pitchFamily="18" charset="0"/>
              <a:ea typeface="Times New Roman" panose="02020603050405020304" pitchFamily="18" charset="0"/>
            </a:endParaRPr>
          </a:p>
          <a:p>
            <a:pPr lvl="0" algn="ctr"/>
            <a:endParaRPr lang="en-US" sz="3200" b="1">
              <a:latin typeface="Times New Roman" panose="02020603050405020304" pitchFamily="18" charset="0"/>
              <a:ea typeface="Times New Roman" panose="02020603050405020304" pitchFamily="18" charset="0"/>
            </a:endParaRPr>
          </a:p>
          <a:p>
            <a:pPr lvl="0" algn="ctr"/>
            <a:endParaRPr lang="en-US" sz="3200" b="1">
              <a:latin typeface="Times New Roman" panose="02020603050405020304" pitchFamily="18" charset="0"/>
              <a:ea typeface="Times New Roman" panose="02020603050405020304" pitchFamily="18" charset="0"/>
            </a:endParaRPr>
          </a:p>
          <a:p>
            <a:pPr algn="ctr"/>
            <a:r>
              <a:rPr lang="en-US" sz="2800" b="1">
                <a:latin typeface="Times New Roman" panose="02020603050405020304" pitchFamily="18" charset="0"/>
                <a:ea typeface="Times New Roman" panose="02020603050405020304" pitchFamily="18" charset="0"/>
              </a:rPr>
              <a:t>PLEASE SEE THE DIAGRAMS, SPECIFICATION OF FUNCTIONS, AND MODELING ACTIVITIES IN THE WORD REPORT</a:t>
            </a:r>
            <a:endParaRPr lang="en-US" sz="3200" b="1">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1461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BA35-1359-F1D9-51D4-54E583577CAF}"/>
              </a:ext>
            </a:extLst>
          </p:cNvPr>
          <p:cNvSpPr txBox="1"/>
          <p:nvPr/>
        </p:nvSpPr>
        <p:spPr>
          <a:xfrm>
            <a:off x="2115403" y="2487149"/>
            <a:ext cx="7642746" cy="861774"/>
          </a:xfrm>
          <a:prstGeom prst="rect">
            <a:avLst/>
          </a:prstGeom>
          <a:noFill/>
        </p:spPr>
        <p:txBody>
          <a:bodyPr wrap="square" rtlCol="0">
            <a:spAutoFit/>
          </a:bodyPr>
          <a:lstStyle/>
          <a:p>
            <a:pPr algn="ctr"/>
            <a:r>
              <a:rPr lang="en-US" sz="5000">
                <a:solidFill>
                  <a:srgbClr val="FF0000"/>
                </a:solidFill>
              </a:rPr>
              <a:t>RESPECT!</a:t>
            </a:r>
          </a:p>
        </p:txBody>
      </p:sp>
    </p:spTree>
    <p:extLst>
      <p:ext uri="{BB962C8B-B14F-4D97-AF65-F5344CB8AC3E}">
        <p14:creationId xmlns:p14="http://schemas.microsoft.com/office/powerpoint/2010/main" val="744195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1940</TotalTime>
  <Words>1262</Words>
  <Application>Microsoft Office PowerPoint</Application>
  <PresentationFormat>Màn hình rộng</PresentationFormat>
  <Paragraphs>50</Paragraphs>
  <Slides>15</Slides>
  <Notes>0</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15</vt:i4>
      </vt:variant>
    </vt:vector>
  </HeadingPairs>
  <TitlesOfParts>
    <vt:vector size="19" baseType="lpstr">
      <vt:lpstr>Arial</vt:lpstr>
      <vt:lpstr>Calibri</vt:lpstr>
      <vt:lpstr>Times New Roman</vt:lpstr>
      <vt:lpstr>Office Theme</vt:lpstr>
      <vt:lpstr>Bản trình bày PowerPoint</vt:lpstr>
      <vt:lpstr>Bản trình bày PowerPoint</vt:lpstr>
      <vt:lpstr>I. Introduction</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B202-41</dc:creator>
  <cp:lastModifiedBy>Doan Quang Tuan An</cp:lastModifiedBy>
  <cp:revision>85</cp:revision>
  <dcterms:created xsi:type="dcterms:W3CDTF">2021-11-18T09:26:03Z</dcterms:created>
  <dcterms:modified xsi:type="dcterms:W3CDTF">2025-11-30T08:24:24Z</dcterms:modified>
</cp:coreProperties>
</file>